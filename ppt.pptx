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71" r:id="rId12"/>
    <p:sldId id="273" r:id="rId13"/>
    <p:sldId id="272" r:id="rId14"/>
    <p:sldId id="274" r:id="rId15"/>
    <p:sldId id="264" r:id="rId16"/>
    <p:sldId id="265" r:id="rId17"/>
    <p:sldId id="266" r:id="rId18"/>
    <p:sldId id="275" r:id="rId19"/>
    <p:sldId id="276" r:id="rId20"/>
    <p:sldId id="267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72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0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9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5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7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6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4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0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83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95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99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9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8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7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5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731" y="1184566"/>
            <a:ext cx="7608357" cy="99417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100" dirty="0"/>
              <a:t>Developing and Optimizing Data Structures for Real-World Applications Using Python</a:t>
            </a:r>
            <a:br>
              <a:rPr lang="en-US" sz="2100" dirty="0"/>
            </a:br>
            <a:endParaRPr lang="en-US" sz="2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337" y="2243038"/>
            <a:ext cx="5033221" cy="3788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100" dirty="0"/>
              <a:t>Kashif Ali Syed</a:t>
            </a:r>
          </a:p>
          <a:p>
            <a:pPr marL="0" indent="0" algn="ctr">
              <a:buNone/>
            </a:pPr>
            <a:r>
              <a:rPr lang="en-US" sz="2100" dirty="0"/>
              <a:t>University of Cumberlands</a:t>
            </a:r>
          </a:p>
          <a:p>
            <a:pPr marL="0" indent="0" algn="ctr">
              <a:buNone/>
            </a:pPr>
            <a:r>
              <a:rPr lang="en-US" sz="2100" dirty="0"/>
              <a:t>MSCS-532-B01 – Algorithms and Data Structures </a:t>
            </a:r>
          </a:p>
          <a:p>
            <a:pPr marL="0" indent="0" algn="ctr">
              <a:buNone/>
            </a:pPr>
            <a:r>
              <a:rPr lang="en-US" sz="2100" dirty="0"/>
              <a:t>Brandon Bass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This project develops a unified Python-based framework for scalable e-commerce operations.</a:t>
            </a:r>
          </a:p>
          <a:p>
            <a:pPr lvl="1"/>
            <a:r>
              <a:rPr lang="en-US" sz="1700" dirty="0"/>
              <a:t>Integrates inventory management and recommendation subsystems.</a:t>
            </a:r>
          </a:p>
          <a:p>
            <a:pPr lvl="1"/>
            <a:r>
              <a:rPr lang="en-US" sz="1700" dirty="0"/>
              <a:t>Spans design, implementation, optimization, and integration phases.</a:t>
            </a:r>
          </a:p>
          <a:p>
            <a:pPr lvl="1"/>
            <a:r>
              <a:rPr lang="en-US" sz="1700" dirty="0"/>
              <a:t>Focus on real-world scalability, performance, and data structure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2800">
                <a:solidFill>
                  <a:schemeClr val="tx1"/>
                </a:solidFill>
              </a:rPr>
              <a:t>Introduction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E-commerce platforms require fast data retrieval and intelligent recommendations.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Delays in lookup or ranking directly impact user experience and revenue.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Goal: Design a unified system using optimized Python data structures.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Project phases: conceptualization → proof-of-concept → optimization →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Large product catalogs (up to millions of items).</a:t>
            </a:r>
          </a:p>
          <a:p>
            <a:pPr lvl="1"/>
            <a:r>
              <a:rPr lang="en-US" sz="1700" dirty="0"/>
              <a:t>High-frequency operations: SKU lookup, updates, recommendations.</a:t>
            </a:r>
          </a:p>
          <a:p>
            <a:pPr lvl="1"/>
            <a:r>
              <a:rPr lang="en-US" sz="1700" dirty="0"/>
              <a:t>Challenges: latency, memory usage, scaling behavior.</a:t>
            </a:r>
          </a:p>
          <a:p>
            <a:pPr lvl="1"/>
            <a:r>
              <a:rPr lang="en-US" sz="1700" dirty="0"/>
              <a:t>Need robust data structures to ensure predictable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Application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Inventory must support  add/remove/update operations efficiently.</a:t>
            </a:r>
          </a:p>
          <a:p>
            <a:pPr lvl="1"/>
            <a:r>
              <a:rPr lang="en-US" sz="1700"/>
              <a:t>Recommendation engine must rank top-K products quickly.</a:t>
            </a:r>
          </a:p>
          <a:p>
            <a:pPr lvl="1"/>
            <a:r>
              <a:rPr lang="en-US" sz="1700"/>
              <a:t>System must scale as data volume increases.</a:t>
            </a:r>
          </a:p>
          <a:p>
            <a:pPr lvl="1"/>
            <a:r>
              <a:rPr lang="en-US" sz="1700"/>
              <a:t>Unified architecture ensures consistent performance across subsystems.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Phase 1 – Core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Hash Maps: O(1) average lookup for SKU and user interactions.</a:t>
            </a:r>
          </a:p>
          <a:p>
            <a:pPr lvl="1"/>
            <a:r>
              <a:rPr lang="en-US" sz="1700" dirty="0"/>
              <a:t>Adjacency Lists: efficient representation of similarity graphs.</a:t>
            </a:r>
          </a:p>
          <a:p>
            <a:pPr lvl="1"/>
            <a:r>
              <a:rPr lang="en-US" sz="1700" dirty="0"/>
              <a:t>Heaps: maintain dynamic top-K recommendation candidates.</a:t>
            </a:r>
          </a:p>
          <a:p>
            <a:pPr lvl="1"/>
            <a:r>
              <a:rPr lang="en-US" sz="1700" dirty="0"/>
              <a:t>LRU Cache: avoids redundant recommendation computation.</a:t>
            </a:r>
          </a:p>
          <a:p>
            <a:pPr lvl="1"/>
            <a:r>
              <a:rPr lang="en-US" sz="1700" dirty="0"/>
              <a:t>AVL Trees: guarantee O(log n) balanced ordering for product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E0019-E99B-65A0-7DFD-C76F27031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63667-4C15-A6D4-3880-269575FD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Phase 1 – </a:t>
            </a:r>
            <a:r>
              <a:rPr lang="en-US" sz="2800">
                <a:solidFill>
                  <a:srgbClr val="EBEBEB"/>
                </a:solidFill>
              </a:rPr>
              <a:t>Design Rationale</a:t>
            </a:r>
            <a:endParaRPr lang="en-US" sz="2800" dirty="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2B04A-F069-49A5-BBFC-1591D73B4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Designed to handle high read/write frequency typical of e-commerce.</a:t>
            </a:r>
          </a:p>
          <a:p>
            <a:pPr lvl="1"/>
            <a:r>
              <a:rPr lang="en-US" sz="1700" dirty="0"/>
              <a:t>Chosen DS ensure predictability under heavy load.</a:t>
            </a:r>
          </a:p>
          <a:p>
            <a:pPr lvl="1"/>
            <a:r>
              <a:rPr lang="en-US" sz="1700" dirty="0"/>
              <a:t>Data structures modularized for reuse and future enhancements.</a:t>
            </a:r>
          </a:p>
          <a:p>
            <a:pPr lvl="1"/>
            <a:r>
              <a:rPr lang="en-US" sz="1700" dirty="0"/>
              <a:t>Focus on readability + performance balance.</a:t>
            </a:r>
          </a:p>
        </p:txBody>
      </p:sp>
    </p:spTree>
    <p:extLst>
      <p:ext uri="{BB962C8B-B14F-4D97-AF65-F5344CB8AC3E}">
        <p14:creationId xmlns:p14="http://schemas.microsoft.com/office/powerpoint/2010/main" val="303661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– Inventory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Implemented dictionary-based SKU → product mapping.</a:t>
            </a:r>
          </a:p>
          <a:p>
            <a:pPr lvl="1"/>
            <a:r>
              <a:rPr lang="en-US" dirty="0"/>
              <a:t>Category → SKU index supports multi-product category searches.</a:t>
            </a:r>
          </a:p>
          <a:p>
            <a:pPr lvl="1"/>
            <a:r>
              <a:rPr lang="en-US" dirty="0"/>
              <a:t>Validation ensures no duplicates and no negative inventory.</a:t>
            </a:r>
          </a:p>
          <a:p>
            <a:pPr lvl="1"/>
            <a:r>
              <a:rPr lang="en-US" dirty="0"/>
              <a:t>Testing included add/remove/update operations and category lookups.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E2A8C-8028-6481-C924-C4CB4C64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884F6-55F2-14B3-3E31-55E304F4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Phase 3 – Optimization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C48A8-BC90-A4CD-6F71-BFBF67DD1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Increase lookup speed for frequent operations.</a:t>
            </a:r>
          </a:p>
          <a:p>
            <a:pPr lvl="1"/>
            <a:r>
              <a:rPr lang="en-US" sz="1700" dirty="0"/>
              <a:t>Reduce memory overhead in similarity graphs.</a:t>
            </a:r>
          </a:p>
          <a:p>
            <a:pPr lvl="1"/>
            <a:r>
              <a:rPr lang="en-US" sz="1700" dirty="0"/>
              <a:t>Ensure balanced tree performance for ordered operations.</a:t>
            </a:r>
          </a:p>
          <a:p>
            <a:pPr lvl="1"/>
            <a:r>
              <a:rPr lang="en-US" sz="1700" dirty="0"/>
              <a:t>Improve recommendation query latency under scaling.</a:t>
            </a:r>
          </a:p>
          <a:p>
            <a:pPr lvl="1"/>
            <a:r>
              <a:rPr lang="en-US" sz="1700" dirty="0"/>
              <a:t>Open addressing + quadratic probing.</a:t>
            </a:r>
          </a:p>
          <a:p>
            <a:pPr lvl="1"/>
            <a:r>
              <a:rPr lang="en-US" sz="1700" dirty="0"/>
              <a:t>Adjacency list + graph pruning.</a:t>
            </a:r>
          </a:p>
          <a:p>
            <a:pPr lvl="1"/>
            <a:r>
              <a:rPr lang="en-US" sz="1700" dirty="0"/>
              <a:t>AVL Trees replacing BST.</a:t>
            </a:r>
          </a:p>
          <a:p>
            <a:pPr lvl="1"/>
            <a:r>
              <a:rPr lang="en-US" sz="1700" dirty="0"/>
              <a:t>__slots__ memory optimization.</a:t>
            </a:r>
          </a:p>
          <a:p>
            <a:pPr lvl="1"/>
            <a:r>
              <a:rPr lang="en-US" sz="1700" dirty="0"/>
              <a:t>Performance: 2.48s → 0.41s.</a:t>
            </a:r>
          </a:p>
          <a:p>
            <a:pPr marL="402336" lvl="1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40442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Phase 3 –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Open addressing + quadratic probing.</a:t>
            </a:r>
          </a:p>
          <a:p>
            <a:pPr lvl="1"/>
            <a:r>
              <a:rPr lang="en-US" sz="1700" dirty="0"/>
              <a:t>Adjacency list + graph pruning.</a:t>
            </a:r>
          </a:p>
          <a:p>
            <a:pPr lvl="1"/>
            <a:r>
              <a:rPr lang="en-US" sz="1700" dirty="0"/>
              <a:t>AVL Trees replacing BST.</a:t>
            </a:r>
          </a:p>
          <a:p>
            <a:pPr lvl="1"/>
            <a:r>
              <a:rPr lang="en-US" sz="1700" dirty="0"/>
              <a:t>__slots__ memory optimization.</a:t>
            </a:r>
          </a:p>
          <a:p>
            <a:pPr lvl="1"/>
            <a:r>
              <a:rPr lang="en-US" sz="1700" dirty="0"/>
              <a:t>Performance: 2.48s → 0.41s.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B0C83-6D09-6D44-AF9B-A4419F1F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3A18F2-572D-A039-79DC-E7BE9C37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61213-A8EB-A9FD-5C66-8090935E6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856B0B8-5EB5-C81C-ECAF-69FC8DAC6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85D7D9-4631-360B-38CB-6A6AD39DC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20E75858-E0FE-8109-D900-93D76CFFD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5849A-0179-6E2E-A264-522227937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Phase 3 – Hash Table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2E09-181D-4DF3-88A1-33CDCFC3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Replaced chaining with open addressing + quadratic probing.</a:t>
            </a:r>
          </a:p>
          <a:p>
            <a:pPr lvl="1"/>
            <a:r>
              <a:rPr lang="en-US" dirty="0"/>
              <a:t>Added dynamic resizing to maintain ideal load factor.</a:t>
            </a:r>
          </a:p>
          <a:p>
            <a:pPr lvl="1"/>
            <a:r>
              <a:rPr lang="en-US" dirty="0"/>
              <a:t>Benefit: reduced collision overhead and improved stability.</a:t>
            </a:r>
          </a:p>
        </p:txBody>
      </p:sp>
    </p:spTree>
    <p:extLst>
      <p:ext uri="{BB962C8B-B14F-4D97-AF65-F5344CB8AC3E}">
        <p14:creationId xmlns:p14="http://schemas.microsoft.com/office/powerpoint/2010/main" val="2330084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Phase 3 – Graph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Switched from adjacency matrix → adjacency list.</a:t>
            </a:r>
          </a:p>
          <a:p>
            <a:pPr lvl="1"/>
            <a:r>
              <a:rPr lang="en-US" sz="1700" dirty="0"/>
              <a:t>Pruned weak similarity edges (threshold ~0.3).</a:t>
            </a:r>
          </a:p>
          <a:p>
            <a:pPr lvl="1"/>
            <a:r>
              <a:rPr lang="en-US" sz="1700" dirty="0"/>
              <a:t>Result: 72% memory reduction and ~3.5× traversal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Phase 3 – Hash Table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Replaced chaining with open addressing + quadratic probing.</a:t>
            </a:r>
          </a:p>
          <a:p>
            <a:pPr lvl="1"/>
            <a:r>
              <a:rPr lang="en-US" sz="1700"/>
              <a:t>Added dynamic resizing to maintain ideal load factor.</a:t>
            </a:r>
          </a:p>
          <a:p>
            <a:pPr lvl="1"/>
            <a:r>
              <a:rPr lang="en-US" sz="1700"/>
              <a:t>Benefit: reduced collision overhead and improved stability.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Phase 3 – AVL Tree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Replaced unbalanced BST that degraded under sorted inserts.</a:t>
            </a:r>
          </a:p>
          <a:p>
            <a:pPr lvl="1"/>
            <a:r>
              <a:rPr lang="en-US" sz="1700" dirty="0"/>
              <a:t>AVL rotations ensure height balance automatically.</a:t>
            </a:r>
          </a:p>
          <a:p>
            <a:pPr lvl="1"/>
            <a:r>
              <a:rPr lang="en-US" sz="1700" dirty="0"/>
              <a:t>Improved search by ~5× under worst-case previous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Hash table operations: up to 4× faster.</a:t>
            </a:r>
          </a:p>
          <a:p>
            <a:pPr lvl="1"/>
            <a:r>
              <a:rPr lang="en-US" dirty="0"/>
              <a:t>Graph traversal: 3–4× faster post-optimization.</a:t>
            </a:r>
          </a:p>
          <a:p>
            <a:pPr lvl="1"/>
            <a:r>
              <a:rPr lang="en-US" dirty="0"/>
              <a:t>AVL-based searches: ~5× performance improvement.</a:t>
            </a:r>
          </a:p>
          <a:p>
            <a:pPr lvl="1"/>
            <a:r>
              <a:rPr lang="en-US" dirty="0"/>
              <a:t>Recommendation latency: 2.48s → 0.41s after optimization.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Data Layer – inventory + interactions.</a:t>
            </a:r>
          </a:p>
          <a:p>
            <a:pPr lvl="1"/>
            <a:r>
              <a:rPr lang="en-US" sz="1700" dirty="0"/>
              <a:t>Recommendation Layer – graph, heap, AVL, cache.</a:t>
            </a:r>
          </a:p>
          <a:p>
            <a:pPr lvl="1"/>
            <a:r>
              <a:rPr lang="en-US" sz="1700" dirty="0"/>
              <a:t>Application Layer – unified API endpoints.</a:t>
            </a:r>
          </a:p>
          <a:p>
            <a:pPr lvl="1"/>
            <a:r>
              <a:rPr lang="en-US" sz="1800" dirty="0"/>
              <a:t>Clear separation ensures maintainability and testing flexibility.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Strengths: scalable, modular, robust.</a:t>
            </a:r>
          </a:p>
          <a:p>
            <a:pPr lvl="1"/>
            <a:r>
              <a:rPr lang="en-US" sz="1700" dirty="0"/>
              <a:t>Limitations: single-machine, manual tuning.</a:t>
            </a:r>
          </a:p>
          <a:p>
            <a:pPr lvl="1"/>
            <a:r>
              <a:rPr lang="en-US" sz="1700" dirty="0"/>
              <a:t>Cache invalidation complexity.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D0268-EFCD-50F1-470A-AFD31280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0CA22D-5FE2-F7E0-178A-E57D7866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Discussion – Strengths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CC8C-FCB1-F386-0DF2-9A729FDAB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Highly scalable architecture suited for large datasets.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Modular design enables extension (e.g., ML integration).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Robust testing validates correctness under stress conditions.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Efficient DS choices minimize latency and memory use.</a:t>
            </a:r>
          </a:p>
        </p:txBody>
      </p:sp>
    </p:spTree>
    <p:extLst>
      <p:ext uri="{BB962C8B-B14F-4D97-AF65-F5344CB8AC3E}">
        <p14:creationId xmlns:p14="http://schemas.microsoft.com/office/powerpoint/2010/main" val="153726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Discussion – Limitations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Single-node system; lacks distributed scaling.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Hand-tuned thresholds may require dataset-specific tuning.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Cache invalidation complexity increases with dataset size.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Integration with graph databases (Neo4j, </a:t>
            </a:r>
            <a:r>
              <a:rPr lang="en-US" sz="1700" dirty="0" err="1"/>
              <a:t>RedisGraph</a:t>
            </a:r>
            <a:r>
              <a:rPr lang="en-US" sz="1700" dirty="0"/>
              <a:t>).</a:t>
            </a:r>
          </a:p>
          <a:p>
            <a:pPr lvl="1"/>
            <a:r>
              <a:rPr lang="en-US" sz="1700" dirty="0"/>
              <a:t>Distributed computing for parallel graph traversals.</a:t>
            </a:r>
          </a:p>
          <a:p>
            <a:pPr lvl="1"/>
            <a:r>
              <a:rPr lang="en-US" sz="1700" dirty="0"/>
              <a:t>ML-driven recommendations (deep learning or matrix factorization).</a:t>
            </a:r>
          </a:p>
          <a:p>
            <a:pPr lvl="1"/>
            <a:r>
              <a:rPr lang="en-US" sz="1700" dirty="0"/>
              <a:t>Real-time streaming using Count-Min Sketch and related DS.</a:t>
            </a:r>
          </a:p>
          <a:p>
            <a:pPr lvl="1"/>
            <a:r>
              <a:rPr lang="en-US" sz="1700" dirty="0"/>
              <a:t>Auto-tuning similarity thresholds and cache sizes.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Project demonstrates complete DS lifecycle: design → build → optimize.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Unified system improves scalability and real-world performance.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Optimized DS significantly reduce latency and memory use.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Provides strong foundation for further advanced features.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36</TotalTime>
  <Words>805</Words>
  <Application>Microsoft Office PowerPoint</Application>
  <PresentationFormat>On-screen Show (4:3)</PresentationFormat>
  <Paragraphs>107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 Boardroom</vt:lpstr>
      <vt:lpstr>Developing and Optimizing Data Structures for Real-World Applications Using Python </vt:lpstr>
      <vt:lpstr>Abstract</vt:lpstr>
      <vt:lpstr>Introduction</vt:lpstr>
      <vt:lpstr>Problem Context</vt:lpstr>
      <vt:lpstr>Application Context</vt:lpstr>
      <vt:lpstr>Phase 1 – Core Data Structures</vt:lpstr>
      <vt:lpstr>Phase 1 – Design Rationale</vt:lpstr>
      <vt:lpstr>Phase 2 – Inventory POC</vt:lpstr>
      <vt:lpstr>Phase 3 – Optimization Goals</vt:lpstr>
      <vt:lpstr>Phase 3 – Optimization</vt:lpstr>
      <vt:lpstr>Phase 3 – Hash Table Optimization</vt:lpstr>
      <vt:lpstr>Phase 3 – Graph Optimization</vt:lpstr>
      <vt:lpstr>Phase 3 – Hash Table Optimization</vt:lpstr>
      <vt:lpstr>Phase 3 – AVL Tree Improvements</vt:lpstr>
      <vt:lpstr>Performance Evaluation</vt:lpstr>
      <vt:lpstr>System Architecture</vt:lpstr>
      <vt:lpstr>Discussion</vt:lpstr>
      <vt:lpstr>Discussion – Strengths</vt:lpstr>
      <vt:lpstr>Discussion – 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 Syed</dc:creator>
  <cp:keywords/>
  <dc:description>generated using python-pptx</dc:description>
  <cp:lastModifiedBy>Kashif Ali Syed</cp:lastModifiedBy>
  <cp:revision>3</cp:revision>
  <dcterms:created xsi:type="dcterms:W3CDTF">2013-01-27T09:14:16Z</dcterms:created>
  <dcterms:modified xsi:type="dcterms:W3CDTF">2025-12-01T01:24:04Z</dcterms:modified>
  <cp:category/>
</cp:coreProperties>
</file>